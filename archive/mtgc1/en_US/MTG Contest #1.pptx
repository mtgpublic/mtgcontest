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3"/>
    <p:sldId id="259" r:id="rId4"/>
    <p:sldId id="260" r:id="rId5"/>
    <p:sldId id="261" r:id="rId6"/>
    <p:sldId id="313" r:id="rId7"/>
    <p:sldId id="311" r:id="rId8"/>
    <p:sldId id="272" r:id="rId9"/>
    <p:sldId id="262" r:id="rId10"/>
    <p:sldId id="315" r:id="rId11"/>
    <p:sldId id="316" r:id="rId12"/>
    <p:sldId id="289" r:id="rId13"/>
    <p:sldId id="290" r:id="rId14"/>
    <p:sldId id="314" r:id="rId15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3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DE3333-857A-4131-9EBA-B73C0C259FD7}" type="datetime1">
              <a:rPr lang="zh-CN" alt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CD12D00-6AAC-4A94-B2E5-A12E9C579B03}" type="datetime1">
              <a:rPr lang="zh-CN" alt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US"/>
              <a:t>单击此处编辑母版文本样式</a:t>
            </a:r>
            <a:endParaRPr lang="en-US"/>
          </a:p>
          <a:p>
            <a:pPr lvl="1" rtl="0"/>
            <a:r>
              <a:rPr lang="en-US"/>
              <a:t>第二级</a:t>
            </a:r>
            <a:endParaRPr lang="en-US"/>
          </a:p>
          <a:p>
            <a:pPr lvl="2" rtl="0"/>
            <a:r>
              <a:rPr lang="en-US"/>
              <a:t>第三级</a:t>
            </a:r>
            <a:endParaRPr lang="en-US"/>
          </a:p>
          <a:p>
            <a:pPr lvl="3" rtl="0"/>
            <a:r>
              <a:rPr lang="en-US"/>
              <a:t>第四级</a:t>
            </a:r>
            <a:endParaRPr lang="en-US"/>
          </a:p>
          <a:p>
            <a:pPr lvl="4" rtl="0"/>
            <a:r>
              <a:rPr 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594A98-8FB4-4076-AE7B-5D3B1A2CBC70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C14310-5240-428A-850A-F7101D16AE5A}" type="datetime1">
              <a:rPr lang="zh-CN" altLang="en-US" smtClean="0"/>
            </a:fld>
            <a:endParaRPr 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85B13-09B0-4D01-A286-57280995F924}" type="datetime1">
              <a:rPr lang="zh-CN" alt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11FE78-D258-4188-9C5F-198CC4CE7F12}" type="datetime1">
              <a:rPr lang="zh-CN" altLang="en-US" smtClean="0"/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491C52-D618-41DD-80F2-22500A780186}" type="datetime1">
              <a:rPr lang="zh-CN" altLang="en-US" smtClean="0"/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EE3488-748A-4EA8-9571-9D5A1694FA0A}" type="datetime1">
              <a:rPr lang="zh-CN" altLang="en-US" smtClean="0"/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D7791703-7779-4492-8183-3F96B27D2540}" type="datetime1">
              <a:rPr lang="zh-CN" altLang="en-US" smtClean="0"/>
            </a:fld>
            <a:endParaRPr 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D22F12-409A-40D9-8774-D34C978752A7}" type="datetime1">
              <a:rPr lang="zh-CN" alt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0F2F7-3EF1-4761-ABAF-2FA9DDE4F1A8}" type="datetime1">
              <a:rPr lang="zh-CN" alt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  <a:endParaRPr lang="zh-CN" altLang="en-US"/>
          </a:p>
          <a:p>
            <a:pPr lvl="1" rtl="0"/>
            <a:r>
              <a:rPr lang="zh-CN" altLang="en-US"/>
              <a:t>二级</a:t>
            </a:r>
            <a:endParaRPr lang="zh-CN" altLang="en-US"/>
          </a:p>
          <a:p>
            <a:pPr lvl="2" rtl="0"/>
            <a:r>
              <a:rPr lang="zh-CN" altLang="en-US"/>
              <a:t>三级</a:t>
            </a:r>
            <a:endParaRPr lang="zh-CN" altLang="en-US"/>
          </a:p>
          <a:p>
            <a:pPr lvl="3" rtl="0"/>
            <a:r>
              <a:rPr lang="zh-CN" altLang="en-US"/>
              <a:t>四级</a:t>
            </a:r>
            <a:endParaRPr lang="zh-CN" altLang="en-US"/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长方形 7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矩形​ 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63FC6D-277D-4D53-8EB6-E41026A24247}" type="datetime1">
              <a:rPr lang="zh-CN" altLang="en-US" smtClean="0"/>
            </a:fld>
            <a:endParaRPr lang="en-US" dirty="0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单击此处编辑母版文本样式</a:t>
            </a:r>
            <a:endParaRPr lang="en-US"/>
          </a:p>
          <a:p>
            <a:pPr lvl="1" rtl="0"/>
            <a:r>
              <a:rPr lang="en-US"/>
              <a:t>第二级</a:t>
            </a:r>
            <a:endParaRPr lang="en-US"/>
          </a:p>
          <a:p>
            <a:pPr lvl="2" rtl="0"/>
            <a:r>
              <a:rPr lang="en-US"/>
              <a:t>第三级</a:t>
            </a:r>
            <a:endParaRPr lang="en-US"/>
          </a:p>
          <a:p>
            <a:pPr lvl="3" rtl="0"/>
            <a:r>
              <a:rPr lang="en-US"/>
              <a:t>第四级</a:t>
            </a:r>
            <a:endParaRPr lang="en-US"/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400FF2F-BAC0-4F33-9E13-F8F6FA55A14D}" type="datetime1">
              <a:rPr lang="zh-CN" alt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kern="1200" cap="all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长方形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446535" y="3062514"/>
            <a:ext cx="11298932" cy="33382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summary of MTG Contest #1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dirty="0"/>
              <a:t>MTG_DREAMSKEYCX</a:t>
            </a:r>
            <a:r>
              <a:rPr lang="zh-CN" altLang="en-US" dirty="0"/>
              <a:t>  </a:t>
            </a:r>
            <a:r>
              <a:rPr lang="en-US" altLang="zh-CN" dirty="0"/>
              <a:t>2026.1.6</a:t>
            </a:r>
            <a:endParaRPr lang="en-US" dirty="0"/>
          </a:p>
        </p:txBody>
      </p:sp>
      <p:sp>
        <p:nvSpPr>
          <p:cNvPr id="20" name="长方形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长方形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03" y="3081867"/>
            <a:ext cx="4965699" cy="3310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Hold This Competition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Everyone wants to have fun and needs such a platform</a:t>
            </a:r>
            <a:endParaRPr lang="en-US" altLang="zh-CN" dirty="0"/>
          </a:p>
          <a:p>
            <a:r>
              <a:rPr lang="en-US" altLang="zh-CN" dirty="0"/>
              <a:t>The vanilla levels have been learned, and the balance of season strategies is unsatisfactory</a:t>
            </a:r>
            <a:endParaRPr lang="en-US" altLang="zh-CN" dirty="0"/>
          </a:p>
          <a:p>
            <a:r>
              <a:rPr lang="en-US" altLang="zh-CN" dirty="0"/>
              <a:t>The author has not updated for a long time</a:t>
            </a:r>
            <a:endParaRPr lang="en-US" altLang="zh-CN" dirty="0"/>
          </a:p>
          <a:p>
            <a:r>
              <a:rPr lang="en-US" altLang="zh-CN" dirty="0"/>
              <a:t>Results and reflections from debates in other communities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/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Contest Content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 significant reference to official competitions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Contest Content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Level: 4.3</a:t>
            </a:r>
            <a:endParaRPr lang="en-US" altLang="zh-CN" dirty="0"/>
          </a:p>
          <a:p>
            <a:r>
              <a:rPr lang="en-US" altLang="zh-CN" dirty="0"/>
              <a:t>Judged by Score</a:t>
            </a:r>
            <a:endParaRPr lang="en-US" altLang="zh-CN" dirty="0"/>
          </a:p>
          <a:p>
            <a:r>
              <a:rPr lang="en-US" altLang="zh-CN" dirty="0"/>
              <a:t>Must play in Normal Mode</a:t>
            </a:r>
            <a:endParaRPr lang="en-US" altLang="zh-CN" dirty="0"/>
          </a:p>
          <a:p>
            <a:r>
              <a:rPr lang="en-US" altLang="zh-CN" dirty="0"/>
              <a:t>Allowed towers: Antiair, Splash, Blast, Multishot, Tesla, Missile, Crusher</a:t>
            </a:r>
            <a:endParaRPr lang="en-US" altLang="zh-CN" dirty="0"/>
          </a:p>
          <a:p>
            <a:r>
              <a:rPr lang="en-US" altLang="zh-CN" dirty="0"/>
              <a:t>Only 30 ability energy cost points</a:t>
            </a:r>
            <a:endParaRPr lang="en-US" altLang="zh-CN" dirty="0"/>
          </a:p>
          <a:p>
            <a:r>
              <a:rPr lang="en-US" altLang="zh-CN" dirty="0"/>
              <a:t>Banned modifiers: Bounty</a:t>
            </a:r>
            <a:endParaRPr lang="en-US" altLang="zh-CN" dirty="0"/>
          </a:p>
          <a:p>
            <a:r>
              <a:rPr lang="en-US" altLang="zh-CN" dirty="0"/>
              <a:t>No other restrictions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285" y="606425"/>
            <a:ext cx="2356485" cy="19996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Ideas and Solutions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Multishot's Level 10 skill: Coin Platform to boost economy</a:t>
            </a:r>
            <a:endParaRPr lang="en-US" altLang="zh-CN" dirty="0"/>
          </a:p>
          <a:p>
            <a:r>
              <a:rPr lang="en-US" altLang="zh-CN" dirty="0"/>
              <a:t>Direct Overload in the early to mid-game; Mining Modifiers to increase mining scores</a:t>
            </a:r>
            <a:endParaRPr lang="en-US" altLang="zh-CN" dirty="0"/>
          </a:p>
          <a:p>
            <a:r>
              <a:rPr lang="en-US" altLang="zh-CN" dirty="0"/>
              <a:t>Crusher and Tesla for enemy output in the mid-game; Antiair for air target output</a:t>
            </a:r>
            <a:endParaRPr lang="en-US" altLang="zh-CN" dirty="0"/>
          </a:p>
          <a:p>
            <a:r>
              <a:rPr lang="en-US" altLang="zh-CN" dirty="0"/>
              <a:t>Blast provides the only control</a:t>
            </a:r>
            <a:endParaRPr lang="en-US" altLang="zh-CN" dirty="0"/>
          </a:p>
          <a:p>
            <a:r>
              <a:rPr lang="en-US" altLang="zh-CN" dirty="0"/>
              <a:t>Coordination strategy between Splash and Magnet to farm MDPS</a:t>
            </a:r>
            <a:endParaRPr lang="en-US" altLang="zh-CN" dirty="0"/>
          </a:p>
          <a:p>
            <a:r>
              <a:rPr lang="en-US" altLang="zh-CN" dirty="0"/>
              <a:t>Use low-cost damage abilities such as Lightning Ball and Fireball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285" y="606425"/>
            <a:ext cx="2356485" cy="1999615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Ranking Results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OB experts are too strong!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 3 in Regular &amp; BEGINNERS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Regular#1 TBR_Oblivio</a:t>
            </a:r>
            <a:r>
              <a:rPr lang="en-US" altLang="zh-CN" dirty="0"/>
              <a:t> 2302799  </a:t>
            </a:r>
            <a:endParaRPr lang="en-US" altLang="zh-CN" dirty="0"/>
          </a:p>
          <a:p>
            <a:r>
              <a:rPr lang="en-US" altLang="zh-CN" dirty="0" err="1">
                <a:sym typeface="+mn-ea"/>
              </a:rPr>
              <a:t>Regular#2 </a:t>
            </a:r>
            <a:r>
              <a:rPr lang="en-US" altLang="zh-CN" dirty="0"/>
              <a:t>249 1842422</a:t>
            </a:r>
            <a:endParaRPr lang="en-US" altLang="zh-CN" dirty="0"/>
          </a:p>
          <a:p>
            <a:r>
              <a:rPr lang="en-US" altLang="zh-CN" dirty="0" err="1">
                <a:sym typeface="+mn-ea"/>
              </a:rPr>
              <a:t>Regular#3 </a:t>
            </a:r>
            <a:r>
              <a:rPr lang="en-US" altLang="zh-CN" dirty="0" err="1"/>
              <a:t>MTG_wu</a:t>
            </a:r>
            <a:r>
              <a:rPr lang="en-US" altLang="zh-CN" dirty="0"/>
              <a:t> 1837944</a:t>
            </a:r>
            <a:endParaRPr lang="en-US" altLang="zh-CN" dirty="0"/>
          </a:p>
          <a:p>
            <a:r>
              <a:rPr lang="en-US" altLang="zh-CN" dirty="0" err="1">
                <a:sym typeface="+mn-ea"/>
              </a:rPr>
              <a:t>Beginner#1 </a:t>
            </a:r>
            <a:r>
              <a:rPr lang="en-US" altLang="zh-CN" dirty="0" err="1"/>
              <a:t>MTG_Nodetail</a:t>
            </a:r>
            <a:r>
              <a:rPr lang="en-US" altLang="zh-CN" dirty="0"/>
              <a:t> 1180790</a:t>
            </a:r>
            <a:endParaRPr lang="en-US" altLang="zh-CN" dirty="0"/>
          </a:p>
          <a:p>
            <a:r>
              <a:rPr lang="en-US" altLang="zh-CN" dirty="0" err="1">
                <a:sym typeface="+mn-ea"/>
              </a:rPr>
              <a:t>Beginner#2 </a:t>
            </a:r>
            <a:r>
              <a:rPr lang="en-US" altLang="zh-CN" dirty="0"/>
              <a:t>czh01 1123071</a:t>
            </a:r>
            <a:endParaRPr lang="en-US" altLang="zh-CN" dirty="0"/>
          </a:p>
          <a:p>
            <a:r>
              <a:rPr lang="en-US" altLang="zh-CN" dirty="0" err="1">
                <a:sym typeface="+mn-ea"/>
              </a:rPr>
              <a:t>Beginner#3 </a:t>
            </a:r>
            <a:r>
              <a:rPr lang="en-US" altLang="zh-CN" dirty="0"/>
              <a:t>Ciao_1214 1068642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316" y="1133841"/>
            <a:ext cx="2717210" cy="4590317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Guaranteed Reward Recipients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Guaranteed rewards for scores above 1.2 million</a:t>
            </a:r>
            <a:endParaRPr lang="en-US" altLang="zh-CN" dirty="0"/>
          </a:p>
          <a:p>
            <a:r>
              <a:rPr lang="en-US" altLang="zh-CN" dirty="0"/>
              <a:t>Recipients: Baiqi, Yevech, Weakcat, Heng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316" y="1133841"/>
            <a:ext cx="2717210" cy="4590317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Discord Players!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Moving it over to Discord was just one of Saki’s initial ideas</a:t>
            </a:r>
            <a:endParaRPr lang="en-US" altLang="zh-CN" dirty="0"/>
          </a:p>
          <a:p>
            <a:r>
              <a:rPr lang="en-US" altLang="zh-CN" dirty="0"/>
              <a:t>But unexpectedly, it drew quite a lot of attention from many Discord users</a:t>
            </a:r>
            <a:endParaRPr lang="en-US" altLang="zh-CN" dirty="0"/>
          </a:p>
          <a:p>
            <a:r>
              <a:rPr lang="en-US" altLang="zh-CN" dirty="0"/>
              <a:t>So a dedicated server was set up, and we’re preparing to develop tools to let Discord players participate—</a:t>
            </a:r>
            <a:endParaRPr lang="en-US" altLang="zh-CN" dirty="0"/>
          </a:p>
          <a:p>
            <a:r>
              <a:rPr lang="en-US" altLang="zh-CN" dirty="0"/>
              <a:t>which is also why this video was made</a:t>
            </a:r>
            <a:endParaRPr lang="en-US" altLang="zh-CN" dirty="0"/>
          </a:p>
          <a:p>
            <a:r>
              <a:rPr lang="en-US" altLang="zh-CN" dirty="0"/>
              <a:t>Thanks to ERKA(Sela), Nesro, EXAMPY, DesiVeer!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4" name="图片 3" descr="56f761a6-1806-406c-a181-29966cff271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870" y="1251585"/>
            <a:ext cx="3507105" cy="140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use this icon?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Thanks to ERKA (Sela) for submitting an MTG Contest icon!</a:t>
            </a:r>
            <a:endParaRPr lang="en-US" altLang="zh-CN" dirty="0"/>
          </a:p>
          <a:p>
            <a:r>
              <a:rPr lang="en-US" altLang="zh-CN" dirty="0"/>
              <a:t>The “C” represents the Contest element, while the background features elements from Infinitode</a:t>
            </a:r>
            <a:endParaRPr lang="en-US" altLang="zh-CN" dirty="0"/>
          </a:p>
          <a:p>
            <a:r>
              <a:rPr lang="en-US" altLang="zh-CN" dirty="0"/>
              <a:t>The green symbolizes the vitality and energy of the competition</a:t>
            </a:r>
            <a:endParaRPr lang="en-US" altLang="zh-CN" dirty="0"/>
          </a:p>
          <a:p>
            <a:r>
              <a:rPr lang="en-US" altLang="zh-CN" i="1" dirty="0"/>
              <a:t>Nesro made a Venom FS version—looks like he really likes it.</a:t>
            </a:r>
            <a:endParaRPr lang="en-US" altLang="zh-CN" i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85" y="702310"/>
            <a:ext cx="3356610" cy="2237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Replay Demonstration Session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Replay Showcases</a:t>
            </a:r>
            <a:endParaRPr lang="en-US" altLang="zh-CN" dirty="0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Replay Showcases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Demonstrate replays of the top 3 in the Regular Track</a:t>
            </a:r>
            <a:endParaRPr lang="en-US" altLang="zh-CN" dirty="0"/>
          </a:p>
          <a:p>
            <a:r>
              <a:rPr lang="en-US" altLang="zh-CN" dirty="0"/>
              <a:t>Demonstrate the replay of the 1st place in the Novice Track</a:t>
            </a:r>
            <a:endParaRPr lang="en-US" altLang="zh-CN" dirty="0"/>
          </a:p>
          <a:p>
            <a:r>
              <a:rPr lang="en-US" altLang="zh-CN" dirty="0"/>
              <a:t>Other replays available for download on GitHub: mtgpublic/mtgcontest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/>
            <a:r>
              <a:rPr lang="en-US" dirty="0">
                <a:sym typeface="+mn-ea"/>
              </a:rPr>
              <a:t>Summary of MTG Contest #1</a:t>
            </a:r>
            <a:r>
              <a:rPr lang="zh-CN" altLang="en-US" dirty="0">
                <a:sym typeface="+mn-ea"/>
              </a:rPr>
              <a:t> </a:t>
            </a:r>
            <a:fld id="{F24FFC25-0C05-49C8-B150-3CF6B89B5C55}" type="datetime1">
              <a:rPr lang="zh-CN" alt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5579" y="6400386"/>
            <a:ext cx="686421" cy="4576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5" y="3062514"/>
            <a:ext cx="11298932" cy="33382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dirty="0"/>
              <a:t>Thank you for watching~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dirty="0"/>
              <a:t>Meow meow meow~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03" y="3081867"/>
            <a:ext cx="4965699" cy="33104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{42B34C4C-A962-40E4-AD4A-947560D257C0}tf33552983_win32</Template>
  <TotalTime>0</TotalTime>
  <Words>2550</Words>
  <Application>WPS 演示</Application>
  <PresentationFormat>宽屏</PresentationFormat>
  <Paragraphs>110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Microsoft YaHei UI</vt:lpstr>
      <vt:lpstr>Wingdings 2</vt:lpstr>
      <vt:lpstr>Franklin Gothic Book</vt:lpstr>
      <vt:lpstr>微软雅黑</vt:lpstr>
      <vt:lpstr>Arial Unicode MS</vt:lpstr>
      <vt:lpstr>Calibri</vt:lpstr>
      <vt:lpstr>等线</vt:lpstr>
      <vt:lpstr>DividendVTI</vt:lpstr>
      <vt:lpstr>summary of MTG Contest #1</vt:lpstr>
      <vt:lpstr>Why Hold This Competition</vt:lpstr>
      <vt:lpstr>Contest Content</vt:lpstr>
      <vt:lpstr>Contest Content</vt:lpstr>
      <vt:lpstr>Ideas and Solutions</vt:lpstr>
      <vt:lpstr>Ranking Results</vt:lpstr>
      <vt:lpstr>Top 3 in Regular &amp; BEGINNERS</vt:lpstr>
      <vt:lpstr>Guaranteed Reward Recipients</vt:lpstr>
      <vt:lpstr>Discord Players!</vt:lpstr>
      <vt:lpstr>Why use this icon?</vt:lpstr>
      <vt:lpstr>Replay Demonstration Session</vt:lpstr>
      <vt:lpstr>Replay Showcases</vt:lpstr>
      <vt:lpstr>Thank you for watching~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ACM-ICPC竞赛宣讲</dc:title>
  <dc:creator>柴 东辰</dc:creator>
  <cp:lastModifiedBy>...</cp:lastModifiedBy>
  <cp:revision>1151</cp:revision>
  <dcterms:created xsi:type="dcterms:W3CDTF">2022-10-05T05:00:00Z</dcterms:created>
  <dcterms:modified xsi:type="dcterms:W3CDTF">2026-01-06T15:19:22Z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4BE2CE040A7B4E4B82472484106AF75F_12</vt:lpwstr>
  </property>
</Properties>
</file>